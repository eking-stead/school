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9" Type="http://schemas.openxmlformats.org/officeDocument/2006/relationships/viewProps" Target="viewProps.xml" /><Relationship Id="rId8" Type="http://schemas.openxmlformats.org/officeDocument/2006/relationships/presProps" Target="presProps.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pdfs/pdf-1020-make-budget-worksheet_form.pdf"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cs.google.com/document/d/1iazgNjD0AacLwXrFJn6ZYW9bngbC4voMmmHnWzYsUfo/edit?tab=t.0"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edutopia.org/article/10-free-financial-literacy-games-high-school-students/" TargetMode="External" /><Relationship Id="rId3" Type="http://schemas.openxmlformats.org/officeDocument/2006/relationships/hyperlink" Target="https://playspent.org/html/" TargetMode="External" /><Relationship Id="rId4" Type="http://schemas.openxmlformats.org/officeDocument/2006/relationships/hyperlink" Target="https://playmoneymagic.com/" TargetMode="External" /><Relationship Id="rId5" Type="http://schemas.openxmlformats.org/officeDocument/2006/relationships/hyperlink" Target="https://docs.google.com/document/d/1-NPpC4LKg8qjFJodzY8I2gc83A64nb4m3xq5KRYJDPI/edit?tab=t.0"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Personal Finance Unit</a:t>
            </a:r>
          </a:p>
        </p:txBody>
      </p:sp>
      <p:sp>
        <p:nvSpPr>
          <p:cNvPr id="3" name="Content Placeholder 2"/>
          <p:cNvSpPr>
            <a:spLocks noGrp="1"/>
          </p:cNvSpPr>
          <p:nvPr>
            <p:ph idx="1"/>
          </p:nvPr>
        </p:nvSpPr>
        <p:spPr/>
        <p:txBody>
          <a:bodyPr/>
          <a:lstStyle/>
          <a:p>
            <a:pPr lvl="0" indent="0" marL="0">
              <a:buNone/>
            </a:pPr>
            <a:r>
              <a:rPr/>
              <a:t>In this unit, while several of your peers are working at the Stock Show, we are going to study Personal Finance. Because We are a project-based learning school, we will organize your learning around a project, which in this case will be creating a </a:t>
            </a:r>
            <a:r>
              <a:rPr b="1"/>
              <a:t>side hustle</a:t>
            </a:r>
            <a:r>
              <a:rPr/>
              <a:t>.</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Side hustle project</a:t>
            </a:r>
          </a:p>
        </p:txBody>
      </p:sp>
      <p:sp>
        <p:nvSpPr>
          <p:cNvPr id="3" name="Content Placeholder 2"/>
          <p:cNvSpPr>
            <a:spLocks noGrp="1"/>
          </p:cNvSpPr>
          <p:nvPr>
            <p:ph idx="1"/>
          </p:nvPr>
        </p:nvSpPr>
        <p:spPr/>
        <p:txBody>
          <a:bodyPr/>
          <a:lstStyle/>
          <a:p>
            <a:pPr lvl="0" indent="0" marL="0">
              <a:buNone/>
            </a:pPr>
            <a:r>
              <a:rPr/>
              <a:t>For this mini-unit, you will create a financially sustainable and rewarding side hustle. You will spend responsibly and keep your business in the black.</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Day One</a:t>
            </a:r>
          </a:p>
        </p:txBody>
      </p:sp>
      <p:sp>
        <p:nvSpPr>
          <p:cNvPr id="3" name="Content Placeholder 2"/>
          <p:cNvSpPr>
            <a:spLocks noGrp="1"/>
          </p:cNvSpPr>
          <p:nvPr>
            <p:ph idx="1"/>
          </p:nvPr>
        </p:nvSpPr>
        <p:spPr/>
        <p:txBody>
          <a:bodyPr/>
          <a:lstStyle/>
          <a:p>
            <a:pPr lvl="0" indent="0" marL="0">
              <a:buNone/>
            </a:pPr>
            <a:r>
              <a:rPr/>
              <a:t>Before you can have a side hustle, you need to have your own finances in order. You will fill out the following worksheet:</a:t>
            </a:r>
          </a:p>
          <a:p>
            <a:pPr lvl="0" indent="0" marL="0">
              <a:buNone/>
            </a:pPr>
            <a:r>
              <a:rPr>
                <a:hlinkClick r:id="rId2"/>
              </a:rPr>
              <a:t>Budgeting form</a:t>
            </a:r>
          </a:p>
          <a:p>
            <a:pPr lvl="0" indent="0" marL="0">
              <a:buNone/>
            </a:pPr>
            <a:r>
              <a:rPr/>
              <a:t>However, you don’t yet have a career, don’t know how much your rent will cost, etc. So we’re going to have to do some research.</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Activity one: Your Future Career</a:t>
            </a:r>
          </a:p>
        </p:txBody>
      </p:sp>
      <p:sp>
        <p:nvSpPr>
          <p:cNvPr id="3" name="Content Placeholder 2"/>
          <p:cNvSpPr>
            <a:spLocks noGrp="1"/>
          </p:cNvSpPr>
          <p:nvPr>
            <p:ph idx="1"/>
          </p:nvPr>
        </p:nvSpPr>
        <p:spPr/>
        <p:txBody>
          <a:bodyPr/>
          <a:lstStyle/>
          <a:p>
            <a:pPr lvl="0" indent="0" marL="0">
              <a:buNone/>
            </a:pPr>
            <a:r>
              <a:rPr/>
              <a:t>In this activity, you will research a career. Don’t worry, you don’t have to know what you want to do after you graduate, but pick one to work with.</a:t>
            </a:r>
          </a:p>
          <a:p>
            <a:pPr lvl="0" indent="0" marL="0">
              <a:buNone/>
            </a:pPr>
            <a:r>
              <a:rPr/>
              <a:t>Look up a starting salary, and then you will have something to work with. Keep in mind that many jobs require certain education, and that could come with debt.</a:t>
            </a:r>
          </a:p>
          <a:p>
            <a:pPr lvl="0" indent="0" marL="0">
              <a:buNone/>
            </a:pPr>
            <a:r>
              <a:rPr/>
              <a:t>Career: _____</a:t>
            </a:r>
          </a:p>
          <a:p>
            <a:pPr lvl="0" indent="0" marL="0">
              <a:buNone/>
            </a:pPr>
            <a:r>
              <a:rPr/>
              <a:t>Starting Salary: ____</a:t>
            </a:r>
          </a:p>
          <a:p>
            <a:pPr lvl="0" indent="0" marL="0">
              <a:buNone/>
            </a:pPr>
            <a:r>
              <a:rPr/>
              <a:t>Education needed: ____</a:t>
            </a:r>
          </a:p>
          <a:p>
            <a:pPr lvl="0" indent="0" marL="0">
              <a:buNone/>
            </a:pPr>
            <a:r>
              <a:rPr>
                <a:hlinkClick r:id="rId2"/>
              </a:rPr>
              <a:t>Activity one: Your Future Career</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Notes</a:t>
            </a:r>
          </a:p>
        </p:txBody>
      </p:sp>
      <p:sp>
        <p:nvSpPr>
          <p:cNvPr id="3" name="Content Placeholder 2"/>
          <p:cNvSpPr>
            <a:spLocks noGrp="1"/>
          </p:cNvSpPr>
          <p:nvPr>
            <p:ph idx="1"/>
          </p:nvPr>
        </p:nvSpPr>
        <p:spPr/>
        <p:txBody>
          <a:bodyPr/>
          <a:lstStyle/>
          <a:p>
            <a:pPr lvl="0" indent="0" marL="0">
              <a:buNone/>
            </a:pPr>
            <a:r>
              <a:rPr/>
              <a:t>Traditional 401(k) contributions are taken out before calculating your net income (take-home pay) because they are pre-tax deductions, reducing your taxable income and the final amount you receive in your paycheck. Your net income is your gross pay minus all deductions, including taxes, insurance, and 401(k) contributions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Extra time:</a:t>
            </a:r>
          </a:p>
        </p:txBody>
      </p:sp>
      <p:sp>
        <p:nvSpPr>
          <p:cNvPr id="3" name="Content Placeholder 2"/>
          <p:cNvSpPr>
            <a:spLocks noGrp="1"/>
          </p:cNvSpPr>
          <p:nvPr>
            <p:ph idx="1"/>
          </p:nvPr>
        </p:nvSpPr>
        <p:spPr/>
        <p:txBody>
          <a:bodyPr/>
          <a:lstStyle/>
          <a:p>
            <a:pPr lvl="0" indent="0" marL="0">
              <a:buNone/>
            </a:pPr>
            <a:r>
              <a:rPr/>
              <a:t>Games</a:t>
            </a:r>
          </a:p>
          <a:p>
            <a:pPr lvl="0"/>
            <a:r>
              <a:rPr>
                <a:hlinkClick r:id="rId2"/>
              </a:rPr>
              <a:t>Games</a:t>
            </a:r>
          </a:p>
          <a:p>
            <a:pPr lvl="1"/>
            <a:r>
              <a:rPr>
                <a:hlinkClick r:id="rId3"/>
              </a:rPr>
              <a:t>Spent game</a:t>
            </a:r>
            <a:r>
              <a:rPr/>
              <a:t> Low-income simulator</a:t>
            </a:r>
          </a:p>
          <a:p>
            <a:pPr lvl="1"/>
            <a:r>
              <a:rPr>
                <a:hlinkClick r:id="rId4"/>
              </a:rPr>
              <a:t>Money Magic game</a:t>
            </a:r>
            <a:r>
              <a:rPr/>
              <a:t> Magic business simulator</a:t>
            </a:r>
          </a:p>
          <a:p>
            <a:pPr lvl="2"/>
            <a:r>
              <a:rPr>
                <a:hlinkClick r:id="rId5"/>
              </a:rPr>
              <a:t>Reflection Qs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2026-01-13T13:29:42Z</dcterms:created>
  <dcterms:modified xsi:type="dcterms:W3CDTF">2026-01-13T13:29:42Z</dcterms:modified>
</cp:coreProperties>
</file>

<file path=docProps/custom.xml><?xml version="1.0" encoding="utf-8"?>
<Properties xmlns="http://schemas.openxmlformats.org/officeDocument/2006/custom-properties" xmlns:vt="http://schemas.openxmlformats.org/officeDocument/2006/docPropsVTypes"/>
</file>